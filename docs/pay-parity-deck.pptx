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 Parity lets an employer prove pay-gap compliance for a job category and publish only the verdict. About 30 seconds on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directive creates a real tension. Proof requires the data, and the data is sensitive. A spreadsheet sent to an auditor also leaves no tamper-evident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idea in one slide. The right column never leaves the employer. A test in the repo checks the public state for every salary, as decimals and as the bytes the ledger stores.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Public ledger state is the sealed employer authority, a counter and the audits map. Private state is the key, the batch and the salt, supplied through witnesses.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demo live if possible: load the example, submit, change the female salaries, submit again, then remove two women and submit to show the rejection.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the ordering bug found while preparing screenshots: the ledger map does not iterate in insertion order, so the log is now sorted by sequence number, with a test that fails without the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market figures here on purpose. The audience is employers subject to the directive, and the first step is a pilot with one employer.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direct about the limits. They are the roadmap for Wave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5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20116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 Parity</a:t>
            </a:r>
            <a:endParaRPr lang="en-US" sz="6400" dirty="0"/>
          </a:p>
        </p:txBody>
      </p:sp>
      <p:sp>
        <p:nvSpPr>
          <p:cNvPr id="3" name="Subtitle"/>
          <p:cNvSpPr txBox="1"/>
          <p:nvPr/>
        </p:nvSpPr>
        <p:spPr>
          <a:xfrm>
            <a:off x="731520" y="329184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7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a job category's gender pay gap is under 5%,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D7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publishing a single salary.</a:t>
            </a:r>
            <a:endParaRPr lang="en-US" sz="2400" dirty="0"/>
          </a:p>
        </p:txBody>
      </p:sp>
      <p:sp>
        <p:nvSpPr>
          <p:cNvPr id="4" name="Event"/>
          <p:cNvSpPr txBox="1"/>
          <p:nvPr/>
        </p:nvSpPr>
        <p:spPr>
          <a:xfrm>
            <a:off x="73152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B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Midnight Buildathon, Wave 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C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needs proof, and proof needs payroll</a:t>
            </a:r>
            <a:endParaRPr lang="en-US" sz="3600" dirty="0"/>
          </a:p>
        </p:txBody>
      </p:sp>
      <p:sp>
        <p:nvSpPr>
          <p:cNvPr id="3" name="Rule"/>
          <p:cNvSpPr txBox="1"/>
          <p:nvPr/>
        </p:nvSpPr>
        <p:spPr>
          <a:xfrm>
            <a:off x="731520" y="173736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F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EU Pay Transparency Directive (2023/970) makes employers report gender pay gaps. An unexplained gap of 5% or more in a job category triggers a joint pay assessment.</a:t>
            </a:r>
            <a:endParaRPr lang="en-US" sz="1800" dirty="0"/>
          </a:p>
        </p:txBody>
      </p:sp>
      <p:sp>
        <p:nvSpPr>
          <p:cNvPr id="4" name="Conflict"/>
          <p:cNvSpPr txBox="1"/>
          <p:nvPr/>
        </p:nvSpPr>
        <p:spPr>
          <a:xfrm>
            <a:off x="731520" y="393192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F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conflict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Regulators and worker representatives need evidence. Employers can't put payroll on a public ledger, and in a small category an average can point at one person.</a:t>
            </a:r>
            <a:endParaRPr lang="en-US" sz="1800" dirty="0"/>
          </a:p>
        </p:txBody>
      </p:sp>
      <p:sp>
        <p:nvSpPr>
          <p:cNvPr id="5" name="Card regulators"/>
          <p:cNvSpPr/>
          <p:nvPr/>
        </p:nvSpPr>
        <p:spPr>
          <a:xfrm>
            <a:off x="6583680" y="1737360"/>
            <a:ext cx="4846320" cy="1645920"/>
          </a:xfrm>
          <a:prstGeom prst="roundRect">
            <a:avLst>
              <a:gd name="adj" fmla="val 444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6" name="Regulators text"/>
          <p:cNvSpPr txBox="1"/>
          <p:nvPr/>
        </p:nvSpPr>
        <p:spPr>
          <a:xfrm>
            <a:off x="6858000" y="192024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Regulators and workers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to check the gap is real and the record can't be rewritten.</a:t>
            </a:r>
            <a:endParaRPr lang="en-US" sz="1600" dirty="0"/>
          </a:p>
        </p:txBody>
      </p:sp>
      <p:sp>
        <p:nvSpPr>
          <p:cNvPr id="7" name="Card employers"/>
          <p:cNvSpPr/>
          <p:nvPr/>
        </p:nvSpPr>
        <p:spPr>
          <a:xfrm>
            <a:off x="6583680" y="3931920"/>
            <a:ext cx="4846320" cy="1645920"/>
          </a:xfrm>
          <a:prstGeom prst="roundRect">
            <a:avLst>
              <a:gd name="adj" fmla="val 444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8" name="Employers text"/>
          <p:cNvSpPr txBox="1"/>
          <p:nvPr/>
        </p:nvSpPr>
        <p:spPr>
          <a:xfrm>
            <a:off x="6858000" y="411480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Employers and employees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want individual salaries visible to anyone, including the auditor.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C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ledger sees, and what it doesn't</a:t>
            </a:r>
            <a:endParaRPr lang="en-US" sz="3600" dirty="0"/>
          </a:p>
        </p:txBody>
      </p:sp>
      <p:sp>
        <p:nvSpPr>
          <p:cNvPr id="3" name="Card 0"/>
          <p:cNvSpPr/>
          <p:nvPr/>
        </p:nvSpPr>
        <p:spPr>
          <a:xfrm>
            <a:off x="731520" y="1737360"/>
            <a:ext cx="5120640" cy="4114800"/>
          </a:xfrm>
          <a:prstGeom prst="roundRect">
            <a:avLst>
              <a:gd name="adj" fmla="val 1778"/>
            </a:avLst>
          </a:prstGeom>
          <a:solidFill>
            <a:srgbClr val="EEF1F6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4" name="Head 0"/>
          <p:cNvSpPr txBox="1"/>
          <p:nvPr/>
        </p:nvSpPr>
        <p:spPr>
          <a:xfrm>
            <a:off x="1051560" y="1965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public ledger</a:t>
            </a:r>
            <a:endParaRPr lang="en-US" sz="2000" dirty="0"/>
          </a:p>
        </p:txBody>
      </p:sp>
      <p:sp>
        <p:nvSpPr>
          <p:cNvPr id="5" name="List 0"/>
          <p:cNvSpPr txBox="1"/>
          <p:nvPr/>
        </p:nvSpPr>
        <p:spPr>
          <a:xfrm>
            <a:off x="1051560" y="2606040"/>
            <a:ext cx="4480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under 5%, or 5% or more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Headcount in the audit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category and year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commitment to the payroll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attempt, including failures</a:t>
            </a:r>
            <a:endParaRPr lang="en-US" sz="1600" dirty="0"/>
          </a:p>
        </p:txBody>
      </p:sp>
      <p:sp>
        <p:nvSpPr>
          <p:cNvPr id="6" name="Card 1"/>
          <p:cNvSpPr/>
          <p:nvPr/>
        </p:nvSpPr>
        <p:spPr>
          <a:xfrm>
            <a:off x="6309360" y="1737360"/>
            <a:ext cx="51206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7" name="Head 1"/>
          <p:cNvSpPr txBox="1"/>
          <p:nvPr/>
        </p:nvSpPr>
        <p:spPr>
          <a:xfrm>
            <a:off x="6629400" y="1965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Stays on the employer's machine</a:t>
            </a:r>
            <a:endParaRPr lang="en-US" sz="2000" dirty="0"/>
          </a:p>
        </p:txBody>
      </p:sp>
      <p:sp>
        <p:nvSpPr>
          <p:cNvPr id="8" name="List 1"/>
          <p:cNvSpPr txBox="1"/>
          <p:nvPr/>
        </p:nvSpPr>
        <p:spPr>
          <a:xfrm>
            <a:off x="6629400" y="2606040"/>
            <a:ext cx="4480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individual salary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earns what, by gender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employer's secret key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salt behind the commitment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payroll file itself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C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 on Midnight</a:t>
            </a:r>
            <a:endParaRPr lang="en-US" sz="3600" dirty="0"/>
          </a:p>
        </p:txBody>
      </p:sp>
      <p:sp>
        <p:nvSpPr>
          <p:cNvPr id="3" name="Step 1 marker"/>
          <p:cNvSpPr/>
          <p:nvPr/>
        </p:nvSpPr>
        <p:spPr>
          <a:xfrm>
            <a:off x="731520" y="1828800"/>
            <a:ext cx="640080" cy="640080"/>
          </a:xfrm>
          <a:prstGeom prst="ellipse">
            <a:avLst/>
          </a:prstGeom>
          <a:solidFill>
            <a:srgbClr val="1F3556"/>
          </a:solidFill>
          <a:ln w="12700">
            <a:solidFill>
              <a:srgbClr val="1F3556"/>
            </a:solidFill>
            <a:prstDash val="solid"/>
          </a:ln>
        </p:spPr>
      </p:sp>
      <p:sp>
        <p:nvSpPr>
          <p:cNvPr id="4" name="Step 1 number"/>
          <p:cNvSpPr txBox="1"/>
          <p:nvPr/>
        </p:nvSpPr>
        <p:spPr>
          <a:xfrm>
            <a:off x="73152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Step 1 head"/>
          <p:cNvSpPr txBox="1"/>
          <p:nvPr/>
        </p:nvSpPr>
        <p:spPr>
          <a:xfrm>
            <a:off x="731520" y="2697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input</a:t>
            </a:r>
            <a:endParaRPr lang="en-US" sz="2000" dirty="0"/>
          </a:p>
        </p:txBody>
      </p:sp>
      <p:sp>
        <p:nvSpPr>
          <p:cNvPr id="6" name="Step 1 body"/>
          <p:cNvSpPr txBox="1"/>
          <p:nvPr/>
        </p:nvSpPr>
        <p:spPr>
          <a:xfrm>
            <a:off x="731520" y="32004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Witnesses hand the circuit up to eight pay records, the employer key and a salt. They never leave the machine.</a:t>
            </a:r>
            <a:endParaRPr lang="en-US" sz="1500" dirty="0"/>
          </a:p>
        </p:txBody>
      </p:sp>
      <p:sp>
        <p:nvSpPr>
          <p:cNvPr id="7" name="Step 2 marker"/>
          <p:cNvSpPr/>
          <p:nvPr/>
        </p:nvSpPr>
        <p:spPr>
          <a:xfrm>
            <a:off x="3429000" y="1828800"/>
            <a:ext cx="640080" cy="640080"/>
          </a:xfrm>
          <a:prstGeom prst="ellipse">
            <a:avLst/>
          </a:prstGeom>
          <a:solidFill>
            <a:srgbClr val="1F3556"/>
          </a:solidFill>
          <a:ln w="12700">
            <a:solidFill>
              <a:srgbClr val="1F3556"/>
            </a:solidFill>
            <a:prstDash val="solid"/>
          </a:ln>
        </p:spPr>
      </p:sp>
      <p:sp>
        <p:nvSpPr>
          <p:cNvPr id="8" name="Step 2 number"/>
          <p:cNvSpPr txBox="1"/>
          <p:nvPr/>
        </p:nvSpPr>
        <p:spPr>
          <a:xfrm>
            <a:off x="342900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Step 2 head"/>
          <p:cNvSpPr txBox="1"/>
          <p:nvPr/>
        </p:nvSpPr>
        <p:spPr>
          <a:xfrm>
            <a:off x="3429000" y="2697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Circuit checks</a:t>
            </a:r>
            <a:endParaRPr lang="en-US" sz="2000" dirty="0"/>
          </a:p>
        </p:txBody>
      </p:sp>
      <p:sp>
        <p:nvSpPr>
          <p:cNvPr id="10" name="Step 2 body"/>
          <p:cNvSpPr txBox="1"/>
          <p:nvPr/>
        </p:nvSpPr>
        <p:spPr>
          <a:xfrm>
            <a:off x="3429000" y="32004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Sums and counts per group, at least two people each, and average female pay above 95% of average male pay.</a:t>
            </a:r>
            <a:endParaRPr lang="en-US" sz="1500" dirty="0"/>
          </a:p>
        </p:txBody>
      </p:sp>
      <p:sp>
        <p:nvSpPr>
          <p:cNvPr id="11" name="Step 3 marker"/>
          <p:cNvSpPr/>
          <p:nvPr/>
        </p:nvSpPr>
        <p:spPr>
          <a:xfrm>
            <a:off x="6126480" y="1828800"/>
            <a:ext cx="640080" cy="640080"/>
          </a:xfrm>
          <a:prstGeom prst="ellipse">
            <a:avLst/>
          </a:prstGeom>
          <a:solidFill>
            <a:srgbClr val="1F3556"/>
          </a:solidFill>
          <a:ln w="12700">
            <a:solidFill>
              <a:srgbClr val="1F3556"/>
            </a:solidFill>
            <a:prstDash val="solid"/>
          </a:ln>
        </p:spPr>
      </p:sp>
      <p:sp>
        <p:nvSpPr>
          <p:cNvPr id="12" name="Step 3 number"/>
          <p:cNvSpPr txBox="1"/>
          <p:nvPr/>
        </p:nvSpPr>
        <p:spPr>
          <a:xfrm>
            <a:off x="612648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Step 3 head"/>
          <p:cNvSpPr txBox="1"/>
          <p:nvPr/>
        </p:nvSpPr>
        <p:spPr>
          <a:xfrm>
            <a:off x="6126480" y="2697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Explicit disclosure</a:t>
            </a:r>
            <a:endParaRPr lang="en-US" sz="2000" dirty="0"/>
          </a:p>
        </p:txBody>
      </p:sp>
      <p:sp>
        <p:nvSpPr>
          <p:cNvPr id="14" name="Step 3 body"/>
          <p:cNvSpPr txBox="1"/>
          <p:nvPr/>
        </p:nvSpPr>
        <p:spPr>
          <a:xfrm>
            <a:off x="6126480" y="32004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verdict and headcount are marked disclose(). The compiler refuses to publish anything else.</a:t>
            </a:r>
            <a:endParaRPr lang="en-US" sz="1500" dirty="0"/>
          </a:p>
        </p:txBody>
      </p:sp>
      <p:sp>
        <p:nvSpPr>
          <p:cNvPr id="15" name="Step 4 marker"/>
          <p:cNvSpPr/>
          <p:nvPr/>
        </p:nvSpPr>
        <p:spPr>
          <a:xfrm>
            <a:off x="8823960" y="1828800"/>
            <a:ext cx="640080" cy="640080"/>
          </a:xfrm>
          <a:prstGeom prst="ellipse">
            <a:avLst/>
          </a:prstGeom>
          <a:solidFill>
            <a:srgbClr val="1F3556"/>
          </a:solidFill>
          <a:ln w="12700">
            <a:solidFill>
              <a:srgbClr val="1F3556"/>
            </a:solidFill>
            <a:prstDash val="solid"/>
          </a:ln>
        </p:spPr>
      </p:sp>
      <p:sp>
        <p:nvSpPr>
          <p:cNvPr id="16" name="Step 4 number"/>
          <p:cNvSpPr txBox="1"/>
          <p:nvPr/>
        </p:nvSpPr>
        <p:spPr>
          <a:xfrm>
            <a:off x="882396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7" name="Step 4 head"/>
          <p:cNvSpPr txBox="1"/>
          <p:nvPr/>
        </p:nvSpPr>
        <p:spPr>
          <a:xfrm>
            <a:off x="8823960" y="2697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 to the log</a:t>
            </a:r>
            <a:endParaRPr lang="en-US" sz="2000" dirty="0"/>
          </a:p>
        </p:txBody>
      </p:sp>
      <p:sp>
        <p:nvSpPr>
          <p:cNvPr id="18" name="Step 4 body"/>
          <p:cNvSpPr txBox="1"/>
          <p:nvPr/>
        </p:nvSpPr>
        <p:spPr>
          <a:xfrm>
            <a:off x="8823960" y="32004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result, with persistentCommit(payroll, salt), is added to a public append-only map.</a:t>
            </a:r>
            <a:endParaRPr lang="en-US" sz="1500" dirty="0"/>
          </a:p>
        </p:txBody>
      </p:sp>
      <p:sp>
        <p:nvSpPr>
          <p:cNvPr id="19" name="Note card"/>
          <p:cNvSpPr/>
          <p:nvPr/>
        </p:nvSpPr>
        <p:spPr>
          <a:xfrm>
            <a:off x="731520" y="5349240"/>
            <a:ext cx="10725912" cy="868680"/>
          </a:xfrm>
          <a:prstGeom prst="roundRect">
            <a:avLst>
              <a:gd name="adj" fmla="val 8421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20" name="Note text"/>
          <p:cNvSpPr txBox="1"/>
          <p:nvPr/>
        </p:nvSpPr>
        <p:spPr>
          <a:xfrm>
            <a:off x="1005840" y="5349240"/>
            <a:ext cx="10177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commitment binds the employer to the payroll they audited. If the real payroll and salt are produced later, anyone can recompute it and check it against the ledger.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C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demo</a:t>
            </a:r>
            <a:endParaRPr lang="en-US" sz="3600" dirty="0"/>
          </a:p>
        </p:txBody>
      </p:sp>
      <p:pic>
        <p:nvPicPr>
          <p:cNvPr id="3" name="Screenshot" descr="C:/dev/pay-parity/docs/dem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00200"/>
            <a:ext cx="6217920" cy="4736592"/>
          </a:xfrm>
          <a:prstGeom prst="rect">
            <a:avLst/>
          </a:prstGeom>
        </p:spPr>
      </p:pic>
      <p:sp>
        <p:nvSpPr>
          <p:cNvPr id="4" name="Demo notes"/>
          <p:cNvSpPr txBox="1"/>
          <p:nvPr/>
        </p:nvSpPr>
        <p:spPr>
          <a:xfrm>
            <a:off x="7680960" y="173736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 view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pay data. It stays on this machine.</a:t>
            </a:r>
            <a:endParaRPr lang="en-US" sz="17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F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ledger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Verdict, headcount and a commitment. Failures stay on the record.</a:t>
            </a:r>
            <a:endParaRPr lang="en-US" sz="17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F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rules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under two people are rejected with the contract's own message, and nothing is recorded.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C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Tested against the compiled contract</a:t>
            </a:r>
            <a:endParaRPr lang="en-US" sz="3600" dirty="0"/>
          </a:p>
        </p:txBody>
      </p:sp>
      <p:sp>
        <p:nvSpPr>
          <p:cNvPr id="3" name="Stat card 0"/>
          <p:cNvSpPr/>
          <p:nvPr/>
        </p:nvSpPr>
        <p:spPr>
          <a:xfrm>
            <a:off x="731520" y="1783080"/>
            <a:ext cx="3429000" cy="2286000"/>
          </a:xfrm>
          <a:prstGeom prst="roundRect">
            <a:avLst>
              <a:gd name="adj" fmla="val 3200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4" name="Stat 0"/>
          <p:cNvSpPr txBox="1"/>
          <p:nvPr/>
        </p:nvSpPr>
        <p:spPr>
          <a:xfrm>
            <a:off x="1005840" y="19202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5" name="Stat label 0"/>
          <p:cNvSpPr txBox="1"/>
          <p:nvPr/>
        </p:nvSpPr>
        <p:spPr>
          <a:xfrm>
            <a:off x="1005840" y="301752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all passing</a:t>
            </a:r>
            <a:endParaRPr lang="en-US" sz="1500" dirty="0"/>
          </a:p>
        </p:txBody>
      </p:sp>
      <p:sp>
        <p:nvSpPr>
          <p:cNvPr id="6" name="Stat card 1"/>
          <p:cNvSpPr/>
          <p:nvPr/>
        </p:nvSpPr>
        <p:spPr>
          <a:xfrm>
            <a:off x="4434840" y="1783080"/>
            <a:ext cx="3429000" cy="2286000"/>
          </a:xfrm>
          <a:prstGeom prst="roundRect">
            <a:avLst>
              <a:gd name="adj" fmla="val 3200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7" name="Stat 1"/>
          <p:cNvSpPr txBox="1"/>
          <p:nvPr/>
        </p:nvSpPr>
        <p:spPr>
          <a:xfrm>
            <a:off x="4709160" y="19202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6000" dirty="0"/>
          </a:p>
        </p:txBody>
      </p:sp>
      <p:sp>
        <p:nvSpPr>
          <p:cNvPr id="8" name="Stat label 1"/>
          <p:cNvSpPr txBox="1"/>
          <p:nvPr/>
        </p:nvSpPr>
        <p:spPr>
          <a:xfrm>
            <a:off x="4709160" y="301752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salaries in public state, checked as decimals and ledger bytes</a:t>
            </a:r>
            <a:endParaRPr lang="en-US" sz="1500" dirty="0"/>
          </a:p>
        </p:txBody>
      </p:sp>
      <p:sp>
        <p:nvSpPr>
          <p:cNvPr id="9" name="Stat card 2"/>
          <p:cNvSpPr/>
          <p:nvPr/>
        </p:nvSpPr>
        <p:spPr>
          <a:xfrm>
            <a:off x="8138160" y="1783080"/>
            <a:ext cx="3429000" cy="2286000"/>
          </a:xfrm>
          <a:prstGeom prst="roundRect">
            <a:avLst>
              <a:gd name="adj" fmla="val 3200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0" name="Stat 2"/>
          <p:cNvSpPr txBox="1"/>
          <p:nvPr/>
        </p:nvSpPr>
        <p:spPr>
          <a:xfrm>
            <a:off x="8412480" y="19202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6000" dirty="0"/>
          </a:p>
        </p:txBody>
      </p:sp>
      <p:sp>
        <p:nvSpPr>
          <p:cNvPr id="11" name="Stat label 2"/>
          <p:cNvSpPr txBox="1"/>
          <p:nvPr/>
        </p:nvSpPr>
        <p:spPr>
          <a:xfrm>
            <a:off x="8412480" y="301752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pinned: exactly 5% fails, one unit under passes</a:t>
            </a:r>
            <a:endParaRPr lang="en-US" sz="1500" dirty="0"/>
          </a:p>
        </p:txBody>
      </p:sp>
      <p:sp>
        <p:nvSpPr>
          <p:cNvPr id="12" name="QA list"/>
          <p:cNvSpPr txBox="1"/>
          <p:nvPr/>
        </p:nvSpPr>
        <p:spPr>
          <a:xfrm>
            <a:off x="731520" y="4389120"/>
            <a:ext cx="107259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Rejections: a group of one, a stranger to the employer, malformed input. Each leaves the ledger untouched.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commitment is binding and hiding: a changed payroll or a new salt changes it.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were run against deliberate mutations of the contract and caught them. CI compiles, typechecks and tests on every push.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C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needs it, and how it gets adopted</a:t>
            </a:r>
            <a:endParaRPr lang="en-US" sz="3600" dirty="0"/>
          </a:p>
        </p:txBody>
      </p:sp>
      <p:sp>
        <p:nvSpPr>
          <p:cNvPr id="3" name="Who 0"/>
          <p:cNvSpPr txBox="1"/>
          <p:nvPr/>
        </p:nvSpPr>
        <p:spPr>
          <a:xfrm>
            <a:off x="731520" y="178308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Employers in the EU</a:t>
            </a:r>
            <a:endParaRPr lang="en-US" sz="1900" dirty="0"/>
          </a:p>
        </p:txBody>
      </p:sp>
      <p:sp>
        <p:nvSpPr>
          <p:cNvPr id="4" name="Why 0"/>
          <p:cNvSpPr txBox="1"/>
          <p:nvPr/>
        </p:nvSpPr>
        <p:spPr>
          <a:xfrm>
            <a:off x="4480560" y="17830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and compliance teams that must evidence pay-gap compliance without circulating payroll.</a:t>
            </a:r>
            <a:endParaRPr lang="en-US" sz="1600" dirty="0"/>
          </a:p>
        </p:txBody>
      </p:sp>
      <p:sp>
        <p:nvSpPr>
          <p:cNvPr id="5" name="Who 1"/>
          <p:cNvSpPr txBox="1"/>
          <p:nvPr/>
        </p:nvSpPr>
        <p:spPr>
          <a:xfrm>
            <a:off x="731520" y="30175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Auditors and worker representatives</a:t>
            </a:r>
            <a:endParaRPr lang="en-US" sz="1900" dirty="0"/>
          </a:p>
        </p:txBody>
      </p:sp>
      <p:sp>
        <p:nvSpPr>
          <p:cNvPr id="6" name="Why 1"/>
          <p:cNvSpPr txBox="1"/>
          <p:nvPr/>
        </p:nvSpPr>
        <p:spPr>
          <a:xfrm>
            <a:off x="4480560" y="30175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tamper-evident record and a commitment they can check against payroll when it is disclosed to them.</a:t>
            </a:r>
            <a:endParaRPr lang="en-US" sz="1600" dirty="0"/>
          </a:p>
        </p:txBody>
      </p:sp>
      <p:sp>
        <p:nvSpPr>
          <p:cNvPr id="7" name="Who 2"/>
          <p:cNvSpPr txBox="1"/>
          <p:nvPr/>
        </p:nvSpPr>
        <p:spPr>
          <a:xfrm>
            <a:off x="731520" y="425196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Payroll and HR vendors</a:t>
            </a:r>
            <a:endParaRPr lang="en-US" sz="1900" dirty="0"/>
          </a:p>
        </p:txBody>
      </p:sp>
      <p:sp>
        <p:nvSpPr>
          <p:cNvPr id="8" name="Why 2"/>
          <p:cNvSpPr txBox="1"/>
          <p:nvPr/>
        </p:nvSpPr>
        <p:spPr>
          <a:xfrm>
            <a:off x="4480560" y="425196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export a batch and sign it, which closes the gap between a proof about supplied data and the true payroll.</a:t>
            </a:r>
            <a:endParaRPr lang="en-US" sz="1600" dirty="0"/>
          </a:p>
        </p:txBody>
      </p:sp>
      <p:sp>
        <p:nvSpPr>
          <p:cNvPr id="9" name="Adoption"/>
          <p:cNvSpPr txBox="1"/>
          <p:nvPr/>
        </p:nvSpPr>
        <p:spPr>
          <a:xfrm>
            <a:off x="731520" y="553212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path: </a:t>
            </a:r>
            <a:pPr indent="0" marL="0">
              <a:buNone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as an add-on next to the existing payroll export, run it per category each reporting year, and extend to signed payroll sources.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5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Limits today, and what comes next</a:t>
            </a:r>
            <a:endParaRPr lang="en-US" sz="3600" dirty="0"/>
          </a:p>
        </p:txBody>
      </p:sp>
      <p:sp>
        <p:nvSpPr>
          <p:cNvPr id="3" name="Today head"/>
          <p:cNvSpPr txBox="1"/>
          <p:nvPr/>
        </p:nvSpPr>
        <p:spPr>
          <a:xfrm>
            <a:off x="731520" y="17373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</a:t>
            </a:r>
            <a:endParaRPr lang="en-US" sz="2200" dirty="0"/>
          </a:p>
        </p:txBody>
      </p:sp>
      <p:sp>
        <p:nvSpPr>
          <p:cNvPr id="4" name="Today list"/>
          <p:cNvSpPr txBox="1"/>
          <p:nvPr/>
        </p:nvSpPr>
        <p:spPr>
          <a:xfrm>
            <a:off x="731520" y="2331720"/>
            <a:ext cx="51206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runs the contract in-process: no network, no ZK proof yet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contract proves the supplied data meets the rule, not that it is the true payroll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people per audit, whole-number salaries, female and male groups as in the directive's formula</a:t>
            </a:r>
            <a:endParaRPr lang="en-US" sz="1600" dirty="0"/>
          </a:p>
        </p:txBody>
      </p:sp>
      <p:sp>
        <p:nvSpPr>
          <p:cNvPr id="5" name="Next head"/>
          <p:cNvSpPr txBox="1"/>
          <p:nvPr/>
        </p:nvSpPr>
        <p:spPr>
          <a:xfrm>
            <a:off x="6309360" y="17373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Wave 3</a:t>
            </a:r>
            <a:endParaRPr lang="en-US" sz="2200" dirty="0"/>
          </a:p>
        </p:txBody>
      </p:sp>
      <p:sp>
        <p:nvSpPr>
          <p:cNvPr id="6" name="Next list"/>
          <p:cNvSpPr txBox="1"/>
          <p:nvPr/>
        </p:nvSpPr>
        <p:spPr>
          <a:xfrm>
            <a:off x="6309360" y="2331720"/>
            <a:ext cx="51206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Preprod and run audits with real proofs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several batches into one verdict for large categories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payroll sources checked inside the circuit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self-check with a Merkle inclusion proof</a:t>
            </a:r>
            <a:endParaRPr lang="en-US" sz="1600" dirty="0"/>
          </a:p>
        </p:txBody>
      </p:sp>
      <p:sp>
        <p:nvSpPr>
          <p:cNvPr id="7" name="Repo"/>
          <p:cNvSpPr txBox="1"/>
          <p:nvPr/>
        </p:nvSpPr>
        <p:spPr>
          <a:xfrm>
            <a:off x="73152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B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github.com/56steve/pay-parity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Pay Parity</dc:title>
  <dc:subject>PptxGenJS Presentation</dc:subject>
  <dc:creator>56steve</dc:creator>
  <cp:lastModifiedBy>56steve</cp:lastModifiedBy>
  <cp:revision>1</cp:revision>
  <dcterms:created xsi:type="dcterms:W3CDTF">2026-10-15T20:18:17Z</dcterms:created>
  <dcterms:modified xsi:type="dcterms:W3CDTF">2026-10-15T20:18:17Z</dcterms:modified>
</cp:coreProperties>
</file>